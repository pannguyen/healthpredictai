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1" r:id="rId4"/>
    <p:sldId id="268" r:id="rId5"/>
    <p:sldId id="264" r:id="rId6"/>
    <p:sldId id="258" r:id="rId7"/>
    <p:sldId id="259" r:id="rId8"/>
    <p:sldId id="260" r:id="rId9"/>
    <p:sldId id="261" r:id="rId10"/>
    <p:sldId id="262" r:id="rId11"/>
    <p:sldId id="263" r:id="rId12"/>
    <p:sldId id="269" r:id="rId13"/>
    <p:sldId id="270" r:id="rId14"/>
    <p:sldId id="272" r:id="rId15"/>
    <p:sldId id="273" r:id="rId16"/>
    <p:sldId id="265" r:id="rId17"/>
    <p:sldId id="266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>
        <p:scale>
          <a:sx n="103" d="100"/>
          <a:sy n="103" d="100"/>
        </p:scale>
        <p:origin x="1784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563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Introduction. Application Flask d'authentification avec PostgreSQL, déployée avec Docker. Objectif : sécuriser, auditer, gouverner.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Rappel du contexte. 3 TP : vulnérable → sécurisé →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B848C-DAF5-A3F6-CB14-89768DFD9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EA111-576D-667F-6701-B46943B2C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808CB-B936-F90C-F9CC-4697CD7A0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Rappel du contexte. 3 TP : vulnérable → sécurisé → audit.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FCE60-0678-C358-7923-462476452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93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20B6-6C68-3E85-5C39-39016D142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4C366-8739-6756-A649-9617D0E88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28F09-AAA8-B23F-70A6-DDC4D02CD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Rappel du contexte. 3 TP : vulnérable → sécurisé → audit.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4C1BF-36E8-B70B-E914-2FF33EE5B6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97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Comparaison avant/après. Insister sur la ligne brute force : lacune résiduelle principale.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Tous les conteneurs sont UP. Montrer la capture docker compose 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Preuves visuelles : mots de passe stockés sous forme de hash bcrypt (jamais en clair), connexion réussie avec alice/alice123, et message d'erreur pour mauvais mot de passe.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Logs Flask : chaque connexion est tracée avec horodatage précis. On voit CONNEXION_REUSSIE pour alice et admin, ECHEC_CONNEXION pour une tentative invalide.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Logs PostgreSQL : on voit les requêtes de monitoring du postgres_exporter. Aucune injection SQL visible car les requêtes préparées neutralisent l'attaque au niveau applicatif.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Grafana Loki : la pipeline Flask → Promtail → Loki → Grafana fonctionne. On voit CONNEXION_REUSSIE pour alice et admin avec horodatage.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Prometheus collecte bien les métriques PostgreSQL via postgres_exporter. Target state = UP, scrape toutes les ~3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7DDD9-50B8-4925-0259-0661683ED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DBEC5-B80C-3DE6-3326-322740EC0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68310-097F-479D-7F43-4AD9F8189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Prometheus collecte bien les métriques PostgreSQL via postgres_exporter. Target state = UP, scrape toutes les ~3 secondes.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54988-1C5F-EA67-F541-A1DD908DD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5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C119B-9A10-FC77-4DA6-A8651387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5BB9C-C269-37E3-DC3F-12D4FCE21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B29DA-4730-ED5B-952A-841C447A1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Prometheus collecte bien les métriques PostgreSQL via postgres_exporter. Target state = UP, scrape toutes les ~3 secondes.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2A5D4-11D1-0D0F-D3F7-951947C022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22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RGPD. 2 points conformes, 2 en avertissement, 2 non conformes. Insister sur la nécessité d'implémenter le droit à l'effacement et une procédure de notification en cas de violation.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1065-2561-853A-333A-C8CD69F00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479D0-C2F3-6148-F896-2815ED3FE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62911-73AB-CAB2-3081-0F1B58DE6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RGPD. 2 points conformes, 2 en avertissement, 2 non conformes. Insister sur la nécessité d'implémenter le droit à l'effacement et une procédure de notification en cas de violation.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8294C-1C70-5585-8547-BA957660B8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69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Gouvernance. Sans rôles définis, les mesures techniques restent insuffisantes.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Sauvegarde. RPO = perte max acceptable = 24h. RTO = délai remise en service &lt; 1h. Tester les sauvegardes mensuellement.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Conclusion. Message clé : sécurité = processus continu. Mesures techniques nécessaires mais insuffisantes sans gouvernance et audit régulier.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B4DDD7-A876-3D20-94E0-B222683F26A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15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FR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Interne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A3A8F">
              <a:alpha val="40000"/>
            </a:srgbClr>
          </a:solidFill>
          <a:ln w="12700">
            <a:solidFill>
              <a:srgbClr val="2A3A8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2A3A8F">
              <a:alpha val="30000"/>
            </a:srgbClr>
          </a:solidFill>
          <a:ln w="12700">
            <a:solidFill>
              <a:srgbClr val="2A3A8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SÉCURITÉ &amp; GOUVERNANCE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HealthPredictAI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d'authentification sécurisée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Sécurisation, Audit et Gouvernance des données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2286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finale — Juin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2743200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r>
              <a:rPr lang="en-FR" dirty="0"/>
              <a:t>Les données de santé font partie des données </a:t>
            </a:r>
            <a:r>
              <a:rPr lang="en-FR" b="1" dirty="0"/>
              <a:t>sensibles</a:t>
            </a:r>
            <a:r>
              <a:rPr lang="en-FR" dirty="0"/>
              <a:t> au sens du </a:t>
            </a:r>
            <a:r>
              <a:rPr lang="en-FR" b="1" dirty="0"/>
              <a:t>RGPD</a:t>
            </a:r>
            <a:endParaRPr lang="en-FR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743200" cy="2971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FR" dirty="0"/>
              <a:t>Une fuite de ces données ou un accès non autoris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217920" y="1444752"/>
            <a:ext cx="2743200" cy="2971800"/>
          </a:xfrm>
          <a:prstGeom prst="roundRect">
            <a:avLst>
              <a:gd name="adj" fmla="val 4000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2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 dirty="0">
              <a:highlight>
                <a:srgbClr val="FFFF00"/>
              </a:highlight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55080" y="1444752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FR" dirty="0"/>
              <a:t>De </a:t>
            </a:r>
            <a:r>
              <a:rPr lang="en-FR" b="1" dirty="0"/>
              <a:t>concevoir, sécuriser, auditer et administrer une infrastructure web médicale complète et conforme aux exigences de cybersécurité actuelles.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89EED-2812-685A-48D5-F9F43D19C496}"/>
              </a:ext>
            </a:extLst>
          </p:cNvPr>
          <p:cNvSpPr txBox="1"/>
          <p:nvPr/>
        </p:nvSpPr>
        <p:spPr>
          <a:xfrm>
            <a:off x="457200" y="840462"/>
            <a:ext cx="7383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dirty="0"/>
              <a:t>L'application manipule des informations médicales et des profils utilisateurs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E970FE-C457-9583-DF43-EF57F21B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D26E31-8CF7-FFB3-B528-D2270A299B23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72136A-D340-AF18-6C5A-654B202665F1}"/>
              </a:ext>
            </a:extLst>
          </p:cNvPr>
          <p:cNvSpPr/>
          <p:nvPr/>
        </p:nvSpPr>
        <p:spPr>
          <a:xfrm>
            <a:off x="365760" y="9601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499FA3-E197-D4CA-BC24-C04C992637F6}"/>
              </a:ext>
            </a:extLst>
          </p:cNvPr>
          <p:cNvSpPr/>
          <p:nvPr/>
        </p:nvSpPr>
        <p:spPr>
          <a:xfrm>
            <a:off x="365760" y="96012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4336B9-E951-8D5A-45D5-CC12174D9F93}"/>
              </a:ext>
            </a:extLst>
          </p:cNvPr>
          <p:cNvSpPr/>
          <p:nvPr/>
        </p:nvSpPr>
        <p:spPr>
          <a:xfrm>
            <a:off x="365760" y="987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045A7E-289A-7CE8-16D3-A123340F5334}"/>
              </a:ext>
            </a:extLst>
          </p:cNvPr>
          <p:cNvSpPr/>
          <p:nvPr/>
        </p:nvSpPr>
        <p:spPr>
          <a:xfrm>
            <a:off x="502920" y="16002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Loki + Prometheus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29482A8-11FD-F263-E29F-86049D41E7EF}"/>
              </a:ext>
            </a:extLst>
          </p:cNvPr>
          <p:cNvSpPr/>
          <p:nvPr/>
        </p:nvSpPr>
        <p:spPr>
          <a:xfrm>
            <a:off x="3291840" y="9601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AAB966E-F178-525A-4E66-E9B9E3E710D9}"/>
              </a:ext>
            </a:extLst>
          </p:cNvPr>
          <p:cNvSpPr/>
          <p:nvPr/>
        </p:nvSpPr>
        <p:spPr>
          <a:xfrm>
            <a:off x="3291840" y="96012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63DD1D-1141-33A6-E704-E8AFF72C7995}"/>
              </a:ext>
            </a:extLst>
          </p:cNvPr>
          <p:cNvSpPr/>
          <p:nvPr/>
        </p:nvSpPr>
        <p:spPr>
          <a:xfrm>
            <a:off x="3291840" y="987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traitées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C566F96-2BC7-3688-BAE5-A1111F6F2A5F}"/>
              </a:ext>
            </a:extLst>
          </p:cNvPr>
          <p:cNvSpPr/>
          <p:nvPr/>
        </p:nvSpPr>
        <p:spPr>
          <a:xfrm>
            <a:off x="3429000" y="16002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utilisateurs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(hashés)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</a:t>
            </a: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email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180F2FB-32BF-0E73-11AC-CE74F0572FE8}"/>
              </a:ext>
            </a:extLst>
          </p:cNvPr>
          <p:cNvSpPr/>
          <p:nvPr/>
        </p:nvSpPr>
        <p:spPr>
          <a:xfrm>
            <a:off x="6217920" y="96012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DF45A64-D786-207C-D98C-5E7075521F03}"/>
              </a:ext>
            </a:extLst>
          </p:cNvPr>
          <p:cNvSpPr/>
          <p:nvPr/>
        </p:nvSpPr>
        <p:spPr>
          <a:xfrm>
            <a:off x="6217920" y="96012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05F9E50-1313-F410-8BAC-B32E01825E37}"/>
              </a:ext>
            </a:extLst>
          </p:cNvPr>
          <p:cNvSpPr/>
          <p:nvPr/>
        </p:nvSpPr>
        <p:spPr>
          <a:xfrm>
            <a:off x="6217920" y="987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398EB3E-0FA3-B444-658C-E4DDB5E27F05}"/>
              </a:ext>
            </a:extLst>
          </p:cNvPr>
          <p:cNvSpPr/>
          <p:nvPr/>
        </p:nvSpPr>
        <p:spPr>
          <a:xfrm>
            <a:off x="6355080" y="16002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TP successifs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 : vulnérable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 : sécurisé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 : audit &amp; gouvernance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4988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52141-E9FB-E317-7736-025B1E96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D715DD-04A0-429B-5556-8320682A1589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Cartographie</a:t>
            </a: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des données</a:t>
            </a:r>
            <a:endParaRPr lang="en-US" sz="280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E2FE8A1-BFB7-6210-A132-5601D3D34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617019"/>
              </p:ext>
            </p:extLst>
          </p:nvPr>
        </p:nvGraphicFramePr>
        <p:xfrm>
          <a:off x="457200" y="960120"/>
          <a:ext cx="8229600" cy="3017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(entier)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nécessaire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Requête préparée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Critique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Hachage bcrypt (rounds=12)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Haute (DCP)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en clair — à chiffrer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connexion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 app.log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Collecte Loki, rétention 90j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272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Avancemene</a:t>
            </a: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Avant / Après sécurisation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468880" y="822960"/>
            <a:ext cx="3017520" cy="411480"/>
          </a:xfrm>
          <a:prstGeom prst="roundRect">
            <a:avLst>
              <a:gd name="adj" fmla="val 17778"/>
            </a:avLst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2468880" y="822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 — Vulnérable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77840" y="822960"/>
            <a:ext cx="3017520" cy="411480"/>
          </a:xfrm>
          <a:prstGeom prst="roundRect">
            <a:avLst>
              <a:gd name="adj" fmla="val 17778"/>
            </a:avLst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5577840" y="822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 — Sécurisé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011680" cy="667512"/>
          </a:xfrm>
          <a:prstGeom prst="roundRect">
            <a:avLst>
              <a:gd name="adj" fmla="val 109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SQL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3017520" cy="667512"/>
          </a:xfrm>
          <a:prstGeom prst="roundRect">
            <a:avLst>
              <a:gd name="adj" fmla="val 10959"/>
            </a:avLst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2606040" y="14447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Concaténation directe → bypass total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371600"/>
            <a:ext cx="3017520" cy="667512"/>
          </a:xfrm>
          <a:prstGeom prst="roundRect">
            <a:avLst>
              <a:gd name="adj" fmla="val 10959"/>
            </a:avLst>
          </a:prstGeom>
          <a:solidFill>
            <a:srgbClr val="F3FFF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5715000" y="14447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préparées → injection impossible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2011680" cy="667512"/>
          </a:xfrm>
          <a:prstGeom prst="roundRect">
            <a:avLst>
              <a:gd name="adj" fmla="val 109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365760" y="2176272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176272"/>
            <a:ext cx="3017520" cy="667512"/>
          </a:xfrm>
          <a:prstGeom prst="roundRect">
            <a:avLst>
              <a:gd name="adj" fmla="val 10959"/>
            </a:avLst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Text 14"/>
          <p:cNvSpPr/>
          <p:nvPr/>
        </p:nvSpPr>
        <p:spPr>
          <a:xfrm>
            <a:off x="2606040" y="22494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Stockés en clair (admin123)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2176272"/>
            <a:ext cx="3017520" cy="667512"/>
          </a:xfrm>
          <a:prstGeom prst="roundRect">
            <a:avLst>
              <a:gd name="adj" fmla="val 10959"/>
            </a:avLst>
          </a:prstGeom>
          <a:solidFill>
            <a:srgbClr val="F3FFF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6"/>
          <p:cNvSpPr/>
          <p:nvPr/>
        </p:nvSpPr>
        <p:spPr>
          <a:xfrm>
            <a:off x="5715000" y="22494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Hachés bcrypt rounds=12 + sel aléatoire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80944"/>
            <a:ext cx="2011680" cy="667512"/>
          </a:xfrm>
          <a:prstGeom prst="roundRect">
            <a:avLst>
              <a:gd name="adj" fmla="val 109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Text 18"/>
          <p:cNvSpPr/>
          <p:nvPr/>
        </p:nvSpPr>
        <p:spPr>
          <a:xfrm>
            <a:off x="365760" y="2980944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2980944"/>
            <a:ext cx="3017520" cy="667512"/>
          </a:xfrm>
          <a:prstGeom prst="roundRect">
            <a:avLst>
              <a:gd name="adj" fmla="val 10959"/>
            </a:avLst>
          </a:prstGeom>
          <a:solidFill>
            <a:srgbClr val="FFF3F3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20"/>
          <p:cNvSpPr/>
          <p:nvPr/>
        </p:nvSpPr>
        <p:spPr>
          <a:xfrm>
            <a:off x="2606040" y="30540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non structuré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980944"/>
            <a:ext cx="3017520" cy="667512"/>
          </a:xfrm>
          <a:prstGeom prst="roundRect">
            <a:avLst>
              <a:gd name="adj" fmla="val 10959"/>
            </a:avLst>
          </a:prstGeom>
          <a:solidFill>
            <a:srgbClr val="F3FFF3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2"/>
          <p:cNvSpPr/>
          <p:nvPr/>
        </p:nvSpPr>
        <p:spPr>
          <a:xfrm>
            <a:off x="5715000" y="30540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Python + Loki + Grafana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785616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— Tous les services opérationnels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680"/>
            <a:ext cx="841248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3977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2A3A8F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2"/>
          <p:cNvSpPr/>
          <p:nvPr/>
        </p:nvSpPr>
        <p:spPr>
          <a:xfrm>
            <a:off x="36576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Flask :5001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1783080" y="3977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2A3A8F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4"/>
          <p:cNvSpPr/>
          <p:nvPr/>
        </p:nvSpPr>
        <p:spPr>
          <a:xfrm>
            <a:off x="178308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Grafana :3000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200400" y="3977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2A3A8F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6"/>
          <p:cNvSpPr/>
          <p:nvPr/>
        </p:nvSpPr>
        <p:spPr>
          <a:xfrm>
            <a:off x="320040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Prometheus :9090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17720" y="3977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2A3A8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8"/>
          <p:cNvSpPr/>
          <p:nvPr/>
        </p:nvSpPr>
        <p:spPr>
          <a:xfrm>
            <a:off x="461772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Loki :3100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035040" y="3977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2A3A8F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0"/>
          <p:cNvSpPr/>
          <p:nvPr/>
        </p:nvSpPr>
        <p:spPr>
          <a:xfrm>
            <a:off x="603504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PostgreSQL :5432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452360" y="3977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2A3A8F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2"/>
          <p:cNvSpPr/>
          <p:nvPr/>
        </p:nvSpPr>
        <p:spPr>
          <a:xfrm>
            <a:off x="745236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Promtail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Mesures de sécurité — Preuves visuelles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502920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hashés bcrypt en base PostgreSQL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8448"/>
            <a:ext cx="502920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633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$2b$12$... → algorithme bcrypt, rounds=12, sel aléatoire intégré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577840" y="86868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5"/>
          <p:cNvSpPr/>
          <p:nvPr/>
        </p:nvSpPr>
        <p:spPr>
          <a:xfrm>
            <a:off x="5577840" y="868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nominale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298448"/>
            <a:ext cx="3200400" cy="1828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77840" y="324612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7"/>
          <p:cNvSpPr/>
          <p:nvPr/>
        </p:nvSpPr>
        <p:spPr>
          <a:xfrm>
            <a:off x="557784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Échec — mauvais mot de passe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657600"/>
            <a:ext cx="320040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— Logs Flask avec timestamps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841248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37490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A3A8F">
              <a:alpha val="70000"/>
            </a:srgb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CONNEXION_REUSSIE — alice, admin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291840" y="37490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A3A8F">
              <a:alpha val="70000"/>
            </a:srgbClr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4"/>
          <p:cNvSpPr/>
          <p:nvPr/>
        </p:nvSpPr>
        <p:spPr>
          <a:xfrm>
            <a:off x="338328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ECHEC_CONNEXION — tentative invalide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37490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A3A8F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6"/>
          <p:cNvSpPr/>
          <p:nvPr/>
        </p:nvSpPr>
        <p:spPr>
          <a:xfrm>
            <a:off x="6309360" y="3749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initiée — chaque login tracé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— Requêtes SQL exécutées (PostgreSQL)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841248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38862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A3A8F">
              <a:alpha val="6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2"/>
          <p:cNvSpPr/>
          <p:nvPr/>
        </p:nvSpPr>
        <p:spPr>
          <a:xfrm>
            <a:off x="502920" y="391363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clé :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requêtes loguées sont uniquement des SELECT sur pg_stat_* (métriques postgres_exporter) et aucune tentative d'injection SQL dans les logs — preuve que les requêtes préparées bloquent les attaques avant qu'elles atteignent PostgreSQL.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— Logs temps réel dans Grafana/Loki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Loki : {job="APP-AUTH"}  →  16 lignes collectées en temps réel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291703-2A57-D137-F1B1-32DF47188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68" y="631371"/>
            <a:ext cx="7245531" cy="38970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— Prometheus</a:t>
            </a:r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207B8D-27E1-EAB5-555F-14DDAAF18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797656"/>
            <a:ext cx="6638544" cy="35481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83295-6A00-F012-8BF4-1E9A8976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68F4172-2FE8-770D-D348-77B222F24888}"/>
              </a:ext>
            </a:extLst>
          </p:cNvPr>
          <p:cNvSpPr/>
          <p:nvPr/>
        </p:nvSpPr>
        <p:spPr>
          <a:xfrm>
            <a:off x="628650" y="138603"/>
            <a:ext cx="7886700" cy="1129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Supervision — Prometheus</a:t>
            </a:r>
            <a:endParaRPr lang="en-US" sz="3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DEE554-0261-2528-DAD5-9CA489D68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84" y="1384069"/>
            <a:ext cx="4587941" cy="333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291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C063A2-248E-8078-2969-209323B68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B5D5893-C53A-2390-D640-DADF803EB917}"/>
              </a:ext>
            </a:extLst>
          </p:cNvPr>
          <p:cNvSpPr/>
          <p:nvPr/>
        </p:nvSpPr>
        <p:spPr>
          <a:xfrm>
            <a:off x="628650" y="138603"/>
            <a:ext cx="7886700" cy="1129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Supervision — </a:t>
            </a:r>
            <a: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PostgreSQL Métriques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8D868-B0B4-C3D8-469A-73FA7D03B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056" y="1384069"/>
            <a:ext cx="6953597" cy="333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36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 conformité RGPD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Minimisation des données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4 champs collectés (id, username, password, email)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502920" y="2267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Sécurité des données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 bcrypt irréversible pour les mots de passe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502920" y="3456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Consentement éclairé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page de consentement ni mentions légales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480060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Droit à l'effacement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endpoint de suppression de compte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1945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6" name="Text 14"/>
          <p:cNvSpPr/>
          <p:nvPr/>
        </p:nvSpPr>
        <p:spPr>
          <a:xfrm>
            <a:off x="4800600" y="22677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Notification de violation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651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procédure de notification CNIL définie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9" name="Text 17"/>
          <p:cNvSpPr/>
          <p:nvPr/>
        </p:nvSpPr>
        <p:spPr>
          <a:xfrm>
            <a:off x="4800600" y="3456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Durée de conservation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politique de purge des comptes inactifs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8D6D9-53CF-B710-F363-BC463CE58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D44BB10-84CC-D5A0-8ACF-4965FF4DCF7E}"/>
              </a:ext>
            </a:extLst>
          </p:cNvPr>
          <p:cNvSpPr/>
          <p:nvPr/>
        </p:nvSpPr>
        <p:spPr>
          <a:xfrm>
            <a:off x="628650" y="138603"/>
            <a:ext cx="7886700" cy="11294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Risque pour une entreprise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345264B-F33F-9681-7716-C61BDF070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902043"/>
            <a:ext cx="7884410" cy="366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61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 des données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14600" y="914400"/>
            <a:ext cx="62636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2697480" y="1051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de l'usage des données, valide les traitements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2A3A8F"/>
          </a:solidFill>
          <a:ln w="12700">
            <a:solidFill>
              <a:srgbClr val="2A3A8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828800"/>
            <a:ext cx="62636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2697480" y="1965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 qualité et cohérence, maintient la documentation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2743200"/>
            <a:ext cx="62636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2697480" y="2880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la politique de sécurité, gère les incidents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3657600"/>
            <a:ext cx="62636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0E8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FR"/>
          </a:p>
        </p:txBody>
      </p:sp>
      <p:sp>
        <p:nvSpPr>
          <p:cNvPr id="18" name="Text 16"/>
          <p:cNvSpPr/>
          <p:nvPr/>
        </p:nvSpPr>
        <p:spPr>
          <a:xfrm>
            <a:off x="2697480" y="3794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RGPD, point de contact CNIL, registre traitements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CADCFC">
              <a:alpha val="7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Text 18"/>
          <p:cNvSpPr/>
          <p:nvPr/>
        </p:nvSpPr>
        <p:spPr>
          <a:xfrm>
            <a:off x="50292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clés : minimisation • durée de conservation • chiffrement DCP • traçabilité • droit à l'effacement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sauvegarde &amp; restauration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3-2-1 : 3 copies  •  2 supports différents  •  1 copie hors site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132921"/>
              </p:ext>
            </p:extLst>
          </p:nvPr>
        </p:nvGraphicFramePr>
        <p:xfrm>
          <a:off x="365760" y="1508760"/>
          <a:ext cx="8412480" cy="2057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Fréquence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Sauvegarde complète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Quotidienne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jours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pg_dump -U admin tp_j2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Sauvegarde hebdo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Dimanche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pg_dump + archive tar.gz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Sauvegarde mensuelle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1er du 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pg_basebackup -Ft -z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applicatifs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(Loki)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jours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Rétention Loki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42793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: docker compose stop web → psql restore → docker compose start web → test connexion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&amp; feuille de route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743200" cy="2834640"/>
          </a:xfrm>
          <a:prstGeom prst="roundRect">
            <a:avLst>
              <a:gd name="adj" fmla="val 3333"/>
            </a:avLst>
          </a:prstGeom>
          <a:solidFill>
            <a:srgbClr val="2A3A8F">
              <a:alpha val="60000"/>
            </a:srgbClr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Externaliser secrets → .env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Flask-Limiter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IP source requêtes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Désactiver debug=True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86868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329184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3 mois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743200" cy="2834640"/>
          </a:xfrm>
          <a:prstGeom prst="roundRect">
            <a:avLst>
              <a:gd name="adj" fmla="val 3333"/>
            </a:avLst>
          </a:prstGeom>
          <a:solidFill>
            <a:srgbClr val="2A3A8F">
              <a:alpha val="60000"/>
            </a:srgbClr>
          </a:solidFill>
          <a:ln w="12700">
            <a:solidFill>
              <a:srgbClr val="FFA72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via Nginx + TLS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Flask-Login + sessions sécurisées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RGPD (effacement)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Grafana automatiques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6217920" y="868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6 mois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743200" cy="2834640"/>
          </a:xfrm>
          <a:prstGeom prst="roundRect">
            <a:avLst>
              <a:gd name="adj" fmla="val 3333"/>
            </a:avLst>
          </a:prstGeom>
          <a:solidFill>
            <a:srgbClr val="2A3A8F">
              <a:alpha val="60000"/>
            </a:srgbClr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par tiers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email au repos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applicatif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RGPD + PRA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— Questions 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1191</Words>
  <Application>Microsoft Macintosh PowerPoint</Application>
  <PresentationFormat>On-screen Show (16:9)</PresentationFormat>
  <Paragraphs>189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Sécurité &amp; Gouvernance — HealthPredictAI</dc:title>
  <dc:subject>PptxGenJS Presentation</dc:subject>
  <dc:creator>PptxGenJS</dc:creator>
  <cp:lastModifiedBy>NGUYEN Hoang Phuong Anh (SNCF VOYAGEURS / DIRECTION GENERALE TGV / DO DSI TGV MARKETING)</cp:lastModifiedBy>
  <cp:revision>6</cp:revision>
  <dcterms:created xsi:type="dcterms:W3CDTF">2026-06-11T07:51:44Z</dcterms:created>
  <dcterms:modified xsi:type="dcterms:W3CDTF">2026-06-11T13:00:18Z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d3f7c8-5c4b-4ab6-9486-a0a9eb08efa7_Enabled">
    <vt:lpwstr>true</vt:lpwstr>
  </property>
  <property fmtid="{D5CDD505-2E9C-101B-9397-08002B2CF9AE}" pid="3" name="MSIP_Label_c8d3f7c8-5c4b-4ab6-9486-a0a9eb08efa7_SetDate">
    <vt:lpwstr>2026-06-11T09:54:14Z</vt:lpwstr>
  </property>
  <property fmtid="{D5CDD505-2E9C-101B-9397-08002B2CF9AE}" pid="4" name="MSIP_Label_c8d3f7c8-5c4b-4ab6-9486-a0a9eb08efa7_Method">
    <vt:lpwstr>Standard</vt:lpwstr>
  </property>
  <property fmtid="{D5CDD505-2E9C-101B-9397-08002B2CF9AE}" pid="5" name="MSIP_Label_c8d3f7c8-5c4b-4ab6-9486-a0a9eb08efa7_Name">
    <vt:lpwstr>Interne - Groupe</vt:lpwstr>
  </property>
  <property fmtid="{D5CDD505-2E9C-101B-9397-08002B2CF9AE}" pid="6" name="MSIP_Label_c8d3f7c8-5c4b-4ab6-9486-a0a9eb08efa7_SiteId">
    <vt:lpwstr>4a7c8238-5799-4b16-9fc6-9ad8fce5a7d9</vt:lpwstr>
  </property>
  <property fmtid="{D5CDD505-2E9C-101B-9397-08002B2CF9AE}" pid="7" name="MSIP_Label_c8d3f7c8-5c4b-4ab6-9486-a0a9eb08efa7_ActionId">
    <vt:lpwstr>3b6783e5-a7e4-4aea-8d24-807be0b1a027</vt:lpwstr>
  </property>
  <property fmtid="{D5CDD505-2E9C-101B-9397-08002B2CF9AE}" pid="8" name="MSIP_Label_c8d3f7c8-5c4b-4ab6-9486-a0a9eb08efa7_ContentBits">
    <vt:lpwstr>2</vt:lpwstr>
  </property>
  <property fmtid="{D5CDD505-2E9C-101B-9397-08002B2CF9AE}" pid="9" name="MSIP_Label_c8d3f7c8-5c4b-4ab6-9486-a0a9eb08efa7_Tag">
    <vt:lpwstr>50, 3, 0, 1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Interne</vt:lpwstr>
  </property>
</Properties>
</file>